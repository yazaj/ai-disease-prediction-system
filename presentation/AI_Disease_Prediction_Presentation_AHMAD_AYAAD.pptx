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B648E"/>
          </a:solidFill>
          <a:ln w="12700">
            <a:solidFill>
              <a:srgbClr val="2B64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AI-Based Disease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58952" y="27432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Breast Cancer Diagnosis Prediction Using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" y="4800600"/>
            <a:ext cx="4480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</a:rPr>
              <a:t>AHMAD YOUSEF NEMER AYAAD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</a:rPr>
              <a:t>Student ID: 243039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</a:rPr>
              <a:t>Instructor: Dr. Abdullah AlQammaz</a:t>
            </a:r>
            <a:endParaRPr lang="en-US" sz="1500" dirty="0"/>
          </a:p>
        </p:txBody>
      </p:sp>
      <p:pic>
        <p:nvPicPr>
          <p:cNvPr id="6" name="Image 0" descr="/mnt/data/243039_AHMAD_YOUSEF_NEMER_AYAAD_AIProject/figures/correlation_heatmap.png">    </p:cNvPr>
          <p:cNvPicPr>
            <a:picLocks noChangeAspect="1"/>
          </p:cNvPicPr>
          <p:nvPr/>
        </p:nvPicPr>
        <p:blipFill>
          <a:blip r:embed="rId1"/>
          <a:srcRect l="14865" r="14865" t="0" b="0"/>
          <a:stretch/>
        </p:blipFill>
        <p:spPr>
          <a:xfrm>
            <a:off x="6675120" y="804672"/>
            <a:ext cx="475488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685800"/>
            <a:ext cx="4983480" cy="5303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B648E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Build a supervised ML system that predicts benign vs. malignant diagnosis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4754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</a:rPr>
              <a:t>Classify breast tumors using 30 diagnostic measurements extracted from cell nuclei. The model is a decision-support demonstration, not a medical replacement.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Project objectives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19272"/>
            <a:ext cx="4937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Load a trusted dataset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Explore patterns and class balance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Preprocess and split the data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Train and compare 3 models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Evaluate with metrics and confusion matrices</a:t>
            </a:r>
            <a:endParaRPr lang="en-US" sz="1500" dirty="0"/>
          </a:p>
        </p:txBody>
      </p:sp>
      <p:pic>
        <p:nvPicPr>
          <p:cNvPr id="8" name="Image 0" descr="/mnt/data/243039_AHMAD_YOUSEF_NEMER_AYAAD_AIProject/figure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554480"/>
            <a:ext cx="480060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AI Course Project | 243039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Features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Breast Cancer Wisconsin Diagnostic dataset from scikit-learn / UCI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48E"/>
                </a:solidFill>
              </a:rPr>
              <a:t>569 samples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48E"/>
                </a:solidFill>
              </a:rPr>
              <a:t>30 numeric features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48E"/>
                </a:solidFill>
              </a:rPr>
              <a:t>2 diagnosis classes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4023360"/>
            <a:ext cx="4389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</a:rPr>
              <a:t>Main feature groups: radius, texture, perimeter, area, smoothness, compactness, concavity, concave points, symmetry, and fractal dimension.</a:t>
            </a:r>
            <a:endParaRPr lang="en-US" sz="1700" dirty="0"/>
          </a:p>
        </p:txBody>
      </p:sp>
      <p:pic>
        <p:nvPicPr>
          <p:cNvPr id="8" name="Image 0" descr="/mnt/data/243039_AHMAD_YOUSEF_NEMER_AYAAD_AIProject/figures/boxplot_mean_radi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3005"/>
            <a:ext cx="5257800" cy="39433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AI Course Project | 243039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What the data shows before training</a:t>
            </a:r>
            <a:endParaRPr lang="en-US" sz="1050" dirty="0"/>
          </a:p>
        </p:txBody>
      </p:sp>
      <p:pic>
        <p:nvPicPr>
          <p:cNvPr id="4" name="Image 0" descr="/mnt/data/243039_AHMAD_YOUSEF_NEMER_AYAAD_AIProject/figur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45895"/>
            <a:ext cx="4983480" cy="3737610"/>
          </a:xfrm>
          <a:prstGeom prst="rect">
            <a:avLst/>
          </a:prstGeom>
        </p:spPr>
      </p:pic>
      <p:pic>
        <p:nvPicPr>
          <p:cNvPr id="5" name="Image 1" descr="/mnt/data/243039_AHMAD_YOUSEF_NEMER_AYAAD_AIProject/figures/boxplot_worst_radi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80185"/>
            <a:ext cx="4892040" cy="3669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5733288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Findings: no missing values; benign class is more common; radius, perimeter, area, concavity, and concave-point features are highly informative.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AI Course Project | 243039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Full AI pipeline implemented in Python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48E"/>
                </a:solidFill>
              </a:rPr>
              <a:t>1. Load dataset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9718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48E"/>
                </a:solidFill>
              </a:rPr>
              <a:t>2. Explore data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578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48E"/>
                </a:solidFill>
              </a:rPr>
              <a:t>3. Preprocess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5438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48E"/>
                </a:solidFill>
              </a:rPr>
              <a:t>4. Train models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92124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648E"/>
                </a:solidFill>
              </a:rPr>
              <a:t>5. Evaluate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670048" y="1847088"/>
            <a:ext cx="411480" cy="292608"/>
          </a:xfrm>
          <a:prstGeom prst="rightArrow">
            <a:avLst/>
          </a:prstGeom>
          <a:solidFill>
            <a:srgbClr val="DDECF7"/>
          </a:solidFill>
          <a:ln w="12700">
            <a:solidFill>
              <a:srgbClr val="DDE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6048" y="1847088"/>
            <a:ext cx="411480" cy="292608"/>
          </a:xfrm>
          <a:prstGeom prst="rightArrow">
            <a:avLst/>
          </a:prstGeom>
          <a:solidFill>
            <a:srgbClr val="DDECF7"/>
          </a:solidFill>
          <a:ln w="12700">
            <a:solidFill>
              <a:srgbClr val="DDE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42048" y="1847088"/>
            <a:ext cx="411480" cy="292608"/>
          </a:xfrm>
          <a:prstGeom prst="rightArrow">
            <a:avLst/>
          </a:prstGeom>
          <a:solidFill>
            <a:srgbClr val="DDECF7"/>
          </a:solidFill>
          <a:ln w="12700">
            <a:solidFill>
              <a:srgbClr val="DDE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82912" y="1847088"/>
            <a:ext cx="411480" cy="292608"/>
          </a:xfrm>
          <a:prstGeom prst="rightArrow">
            <a:avLst/>
          </a:prstGeom>
          <a:solidFill>
            <a:srgbClr val="DDECF7"/>
          </a:solidFill>
          <a:ln w="12700">
            <a:solidFill>
              <a:srgbClr val="DDEC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43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Models compared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4023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Logistic Regression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Random Forest Classifier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Support Vector Machine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Preprocessing choices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3246120"/>
            <a:ext cx="4937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80/20 stratified train-test split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StandardScaler for Logistic Regression and SVM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</a:rPr>
              <a:t>5-fold cross-validation using F1 score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AI Course Project | 243039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Logistic Regression and SVM achieved the best F1 score</a:t>
            </a:r>
            <a:endParaRPr lang="en-US" sz="1050" dirty="0"/>
          </a:p>
        </p:txBody>
      </p:sp>
      <p:pic>
        <p:nvPicPr>
          <p:cNvPr id="4" name="Image 0" descr="/mnt/data/243039_AHMAD_YOUSEF_NEMER_AYAAD_AIProject/figure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5440"/>
            <a:ext cx="5623560" cy="3124200"/>
          </a:xfrm>
          <a:prstGeom prst="rect">
            <a:avLst/>
          </a:prstGeom>
        </p:spPr>
      </p:pic>
      <p:pic>
        <p:nvPicPr>
          <p:cNvPr id="5" name="Image 1" descr="/mnt/data/243039_AHMAD_YOUSEF_NEMER_AYAAD_AIProject/figures/confusion_matrix_logistic_regre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71625"/>
            <a:ext cx="4160520" cy="31203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5605272"/>
            <a:ext cx="9509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648E"/>
                </a:solidFill>
              </a:rPr>
              <a:t>Best model: Logistic Regression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B648E"/>
                </a:solidFill>
              </a:rPr>
              <a:t>Accuracy: 0.982 | F1 score: 0.986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AI Course Project | 243039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What the results mean</a:t>
            </a:r>
            <a:endParaRPr lang="en-US" sz="1050" dirty="0"/>
          </a:p>
        </p:txBody>
      </p:sp>
      <p:pic>
        <p:nvPicPr>
          <p:cNvPr id="4" name="Image 0" descr="/mnt/data/243039_AHMAD_YOUSEF_NEMER_AYAAD_AIProject/figur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85925"/>
            <a:ext cx="5212080" cy="3257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Key observations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29400" y="1755648"/>
            <a:ext cx="47548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The dataset contains strong diagnostic patterns.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Scaling improved linear and margin-based models.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F1 score is important because medical errors have high cost.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Random Forest added feature-importance insight.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The system is for learning and support, not clinical diagnosis.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4754880"/>
            <a:ext cx="4754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</a:rPr>
              <a:t>Main limitation: results are based on a clean benchmark dataset; real hospital data would require external validation.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</a:rPr>
              <a:t>AI Course Project | 243039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</a:rPr>
              <a:t>Complete ML pipeline delivered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Conclusion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1206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</a:rPr>
              <a:t>The system successfully predicts breast cancer diagnosis using supervised machine learning. Logistic Regression and SVM achieved the best F1 score of 0.986.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234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Future work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75120" y="1737360"/>
            <a:ext cx="4663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Hyperparameter tuning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Additional algorithms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Simple user interface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External medical validation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Focus on minimizing false negatives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64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</a:rPr>
              <a:t>AHMAD YOUSEF NEMER AYAAD | 243039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Artificial Intelligence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Disease Prediction System</dc:title>
  <dc:subject>AI-Based Disease Prediction System</dc:subject>
  <dc:creator>AHMAD YOUSEF NEMER AYAAD</dc:creator>
  <cp:lastModifiedBy>AHMAD YOUSEF NEMER AYAAD</cp:lastModifiedBy>
  <cp:revision>1</cp:revision>
  <dcterms:created xsi:type="dcterms:W3CDTF">2026-08-26T17:59:35Z</dcterms:created>
  <dcterms:modified xsi:type="dcterms:W3CDTF">2026-08-26T17:59:35Z</dcterms:modified>
</cp:coreProperties>
</file>